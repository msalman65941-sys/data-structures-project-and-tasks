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51c3ccdf-3528-4d4c-b2d0-5f85e0d04872.fntdata" /><ns0:Relationship Id="rIdFont18" Type="http://schemas.openxmlformats.org/officeDocument/2006/relationships/font" Target="fonts/039d371f-314e-44c5-a576-cf6b45a8d2a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521172"/>
            <a:ext cx="4405312" cy="266700"/>
          </a:xfrm>
          <a:prstGeom prst="roundRect">
            <a:avLst>
              <a:gd name="adj" fmla="val 21428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279552"/>
            <a:ext cx="10668000" cy="1057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279552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33675" y="4593877"/>
            <a:ext cx="1905000" cy="742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33675" y="4593877"/>
            <a:ext cx="9525" cy="742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5350" y="1578322"/>
            <a:ext cx="42338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DATA STRUCTURES &amp; ALGORITHMS • MID-TERM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016472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University Student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346102"/>
            <a:ext cx="6762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A robust console application built in C++ utilizing dynamic memory allocation, searching, sorting algorithms, and formatted I/O.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593877"/>
            <a:ext cx="19883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774852"/>
            <a:ext cx="1988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Muhammad Salman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974877"/>
            <a:ext cx="1988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Muhammad Talha Khan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155852"/>
            <a:ext cx="1988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Huzaifa Altaf Abbasi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4200" y="4593877"/>
            <a:ext cx="1893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PRESENTED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4200" y="4774852"/>
            <a:ext cx="1893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Mr. Mueed Ahmad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76575"/>
            <a:ext cx="3403550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076575"/>
            <a:ext cx="3403550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976562"/>
            <a:ext cx="3403550" cy="1847850"/>
          </a:xfrm>
          <a:prstGeom prst="roundRect">
            <a:avLst>
              <a:gd name="adj" fmla="val 6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390900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3390900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425" y="3290887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Project Introduction &amp;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419225"/>
            <a:ext cx="8191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 comprehensive command-line system designed to manage student records dynamically with efficient operations and clean formatted output.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752850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Dynamic Resizing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4048125"/>
            <a:ext cx="3022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Automatic array capacity doubling when records exceed current bounds.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275" y="3752850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Bubble Sort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275" y="4048125"/>
            <a:ext cx="3022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Sort records efficiently by student ID or CGPA in ascending or descending order.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425" y="3652837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Formatted I/O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425" y="3948112"/>
            <a:ext cx="3022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Clean tabular column alignment using standard manipulators like setw and setprecision.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38437"/>
            <a:ext cx="5181600" cy="2066925"/>
          </a:xfrm>
          <a:prstGeom prst="roundRect">
            <a:avLst>
              <a:gd name="adj" fmla="val 5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95612"/>
            <a:ext cx="51816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Core Data Structure &amp;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419225"/>
            <a:ext cx="1012031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Struct definition for student records paired with global dynamic pointers and initial capacity bounds.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014662"/>
            <a:ext cx="60757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Student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348037"/>
            <a:ext cx="5786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monospace"/>
              </a:rPr>
              <a:t>struct Student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" y="3595687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monospace"/>
              </a:rPr>
              <a:t>int id;</a:t>
            </a:r>
            <a:r>
              <a:t>
</a:t>
            </a:r>
            <a:r>
              <a:rPr b="0" sz="1125" i="0" u="none">
                <a:solidFill>
                  <a:srgbClr val="475569"/>
                </a:solidFill>
                <a:latin typeface="monospace"/>
              </a:rPr>
              <a:t> string name;</a:t>
            </a:r>
            <a:r>
              <a:t>
</a:t>
            </a:r>
            <a:r>
              <a:rPr b="0" sz="1125" i="0" u="none">
                <a:solidFill>
                  <a:srgbClr val="475569"/>
                </a:solidFill>
                <a:latin typeface="monospace"/>
              </a:rPr>
              <a:t> int semester;</a:t>
            </a:r>
            <a:r>
              <a:t>
</a:t>
            </a:r>
            <a:r>
              <a:rPr b="0" sz="1125" i="0" u="none">
                <a:solidFill>
                  <a:srgbClr val="475569"/>
                </a:solidFill>
                <a:latin typeface="monospace"/>
              </a:rPr>
              <a:t> float cgpa;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4357687"/>
            <a:ext cx="5786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monospace"/>
              </a:rPr>
              <a:t>};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271837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Dynamic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605212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monospace"/>
              </a:rPr>
              <a:t>Student* students = new Student[2];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852862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monospace"/>
              </a:rPr>
              <a:t>int studentCount = 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100512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monospace"/>
              </a:rPr>
              <a:t>int capacity = 2;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95625"/>
            <a:ext cx="3403550" cy="1352550"/>
          </a:xfrm>
          <a:prstGeom prst="roundRect">
            <a:avLst>
              <a:gd name="adj" fmla="val 84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15716"/>
            <a:ext cx="3403550" cy="1312366"/>
          </a:xfrm>
          <a:prstGeom prst="roundRect">
            <a:avLst>
              <a:gd name="adj" fmla="val 87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095625"/>
            <a:ext cx="3403550" cy="1352550"/>
          </a:xfrm>
          <a:prstGeom prst="roundRect">
            <a:avLst>
              <a:gd name="adj" fmla="val 84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PROBLEM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Dynamic Array Capacity Expansion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419225"/>
            <a:ext cx="1012031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Handling array overflow by allocating double space, migrating records, and releasing old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333750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Coding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609975"/>
            <a:ext cx="3022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Array capacity is 2 students. Adding a 3rd overflows bounds. How to expand without data loss?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275" y="3353841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AI Prompt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275" y="3630066"/>
            <a:ext cx="302255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"Explain step by step how I can increase array capacity, copy records into a new array, delete old memory, and update pointers."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4425" y="3333750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Solution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4425" y="3609975"/>
            <a:ext cx="3022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Double capacity → allocate new array → copy elements via loop → delete[] old → reassign pointer.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21768"/>
            <a:ext cx="6115050" cy="2100262"/>
          </a:xfrm>
          <a:prstGeom prst="roundRect">
            <a:avLst>
              <a:gd name="adj" fmla="val 544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81850" y="3085207"/>
            <a:ext cx="4248150" cy="1373237"/>
          </a:xfrm>
          <a:prstGeom prst="roundRect">
            <a:avLst>
              <a:gd name="adj" fmla="val 83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PROBLEM 1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Code Snippet &amp;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419225"/>
            <a:ext cx="1012031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Demonstrating safe memory resizing and pointer reassignment in C++.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950368"/>
            <a:ext cx="742592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C++ Solution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207543"/>
            <a:ext cx="5753100" cy="1385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E2E8F0"/>
                </a:solidFill>
                <a:latin typeface="monospace"/>
              </a:rPr>
              <a:t>int newCapacity = capacity * 2;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int* newArray = new int[newCapacity];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for (int i = 0; i &lt; studentCount; i++) {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  newArray[i] = students[i];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}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delete[] students;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students = newArray;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capacity = newCapacity;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9975" y="3323332"/>
            <a:ext cx="47720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Expected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19975" y="3580507"/>
            <a:ext cx="386715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monospace"/>
              </a:rPr>
              <a:t>Old array: 101 102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monospace"/>
              </a:rPr>
              <a:t> New capacity: 4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monospace"/>
              </a:rPr>
              <a:t> Updated array: 101 102 103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95625"/>
            <a:ext cx="3403550" cy="1352550"/>
          </a:xfrm>
          <a:prstGeom prst="roundRect">
            <a:avLst>
              <a:gd name="adj" fmla="val 84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15716"/>
            <a:ext cx="3403550" cy="1312366"/>
          </a:xfrm>
          <a:prstGeom prst="roundRect">
            <a:avLst>
              <a:gd name="adj" fmla="val 87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95637"/>
            <a:ext cx="340355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PROBLEM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Resolving getline() Buffer Skips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419225"/>
            <a:ext cx="1012031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Fixing skipped name inputs caused by leftover newline characters in the input stream.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333750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Coding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609975"/>
            <a:ext cx="3022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After taking numeric ID input with cin, the subsequent getline() for student name is skipped immediately.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275" y="3353841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AI Prompt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275" y="3630066"/>
            <a:ext cx="302255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"Explain why getline skips after cin and how #include and cin.ignore(...) fix the input buffer problem."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4425" y="3433762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Solution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4425" y="3709987"/>
            <a:ext cx="3022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cin leaves '\n' in buffer. cin.ignore() clears leftover input so getline() waits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81622"/>
            <a:ext cx="6115050" cy="1580554"/>
          </a:xfrm>
          <a:prstGeom prst="roundRect">
            <a:avLst>
              <a:gd name="adj" fmla="val 723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81850" y="2978646"/>
            <a:ext cx="4248150" cy="1586507"/>
          </a:xfrm>
          <a:prstGeom prst="roundRect">
            <a:avLst>
              <a:gd name="adj" fmla="val 72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PROBLEM 2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Code Snippet &amp;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419225"/>
            <a:ext cx="1012031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Clearing input streams to successfully capture full names containing spaces.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210222"/>
            <a:ext cx="742592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C++ Solution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467397"/>
            <a:ext cx="5753100" cy="8661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E2E8F0"/>
                </a:solidFill>
                <a:latin typeface="monospace"/>
              </a:rPr>
              <a:t>int id;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string name;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cin &gt;&gt; id;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cin.ignore(numeric_limits::max(), '\n');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getline(cin, name);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9975" y="3216771"/>
            <a:ext cx="47720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Expected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19975" y="3473946"/>
            <a:ext cx="3867150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monospace"/>
              </a:rPr>
              <a:t>Enter Student ID: 101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monospace"/>
              </a:rPr>
              <a:t> Enter Student Name: Muhammad Salman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monospace"/>
              </a:rPr>
              <a:t> Student ID: 101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monospace"/>
              </a:rPr>
              <a:t> Student Name: Muhammad Salman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95625"/>
            <a:ext cx="3403550" cy="1352550"/>
          </a:xfrm>
          <a:prstGeom prst="roundRect">
            <a:avLst>
              <a:gd name="adj" fmla="val 84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209032"/>
            <a:ext cx="3403550" cy="1125735"/>
          </a:xfrm>
          <a:prstGeom prst="roundRect">
            <a:avLst>
              <a:gd name="adj" fmla="val 101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095625"/>
            <a:ext cx="3403550" cy="1352550"/>
          </a:xfrm>
          <a:prstGeom prst="roundRect">
            <a:avLst>
              <a:gd name="adj" fmla="val 84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PROBLEM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Clean Tabular Output Formatting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419225"/>
            <a:ext cx="1012031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Aligning columns neatly and enforcing consistent decimal precision for CGPA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333750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Coding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609975"/>
            <a:ext cx="3022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Student record attributes misalign when printed, and CGPA floats lack standard two-decimal precision.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275" y="3447157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AI Prompt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275" y="3723382"/>
            <a:ext cx="30225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"Explain why I should use #include and how setw(), left, fixed, and setprecision(2) work."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4425" y="3333750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Solution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4425" y="3609975"/>
            <a:ext cx="3022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setw reserves column spacing, left aligns text, fixed &amp; setprecision enforce 2 decimal places.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68240"/>
            <a:ext cx="6115050" cy="1407318"/>
          </a:xfrm>
          <a:prstGeom prst="roundRect">
            <a:avLst>
              <a:gd name="adj" fmla="val 812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81850" y="3207097"/>
            <a:ext cx="4248150" cy="1129605"/>
          </a:xfrm>
          <a:prstGeom prst="roundRect">
            <a:avLst>
              <a:gd name="adj" fmla="val 101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PROBLEM 3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Code Snippet &amp;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419225"/>
            <a:ext cx="1012031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Formatting output streams for professional readability.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296840"/>
            <a:ext cx="742592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C++ Solution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554015"/>
            <a:ext cx="575310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E2E8F0"/>
                </a:solidFill>
                <a:latin typeface="monospace"/>
              </a:rPr>
              <a:t>cout &lt;&lt; left;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cout &lt;&lt; setw(12) &lt;&lt; "ID" &lt;&lt; setw(20) &lt;&lt; "Name" &lt;&lt; endl;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cout &lt;&lt; setw(12) &lt;&lt; id &lt;&lt; setw(20) &lt;&lt; name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monospace"/>
              </a:rPr>
              <a:t>           &amp;&amp; fixed &lt;&lt; setprecision(2) &lt;&lt; cgpa;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9975" y="3445222"/>
            <a:ext cx="47720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Expected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19975" y="3702397"/>
            <a:ext cx="38671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monospace"/>
              </a:rPr>
              <a:t>ID         Name               Semester    CGPA</a:t>
            </a:r>
            <a:r>
              <a:t>
</a:t>
            </a:r>
            <a:r>
              <a:rPr b="0" sz="975" i="0" u="none">
                <a:solidFill>
                  <a:srgbClr val="475569"/>
                </a:solidFill>
                <a:latin typeface="monospace"/>
              </a:rPr>
              <a:t> 101        Salman             3           3.76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267075"/>
            <a:ext cx="3352800" cy="1247775"/>
          </a:xfrm>
          <a:prstGeom prst="roundRect">
            <a:avLst>
              <a:gd name="adj" fmla="val 916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267075"/>
            <a:ext cx="3352800" cy="1247775"/>
          </a:xfrm>
          <a:prstGeom prst="roundRect">
            <a:avLst>
              <a:gd name="adj" fmla="val 916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67075"/>
            <a:ext cx="3352800" cy="1247775"/>
          </a:xfrm>
          <a:prstGeom prst="roundRect">
            <a:avLst>
              <a:gd name="adj" fmla="val 916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15265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419350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Plus Jakarta Sans"/>
              </a:rPr>
              <a:t>Project Summary &amp;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543300"/>
            <a:ext cx="36754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Dynamic Memory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838575"/>
            <a:ext cx="2895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Mastered heap allocation, pointer manipulation, and safe resizing.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3543300"/>
            <a:ext cx="36754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Algorithm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5825" y="3838575"/>
            <a:ext cx="2895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Implemented robust searching and sorting routines for data organization.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43300"/>
            <a:ext cx="36754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Robust Input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38575"/>
            <a:ext cx="2895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Resolved input buffer streams and formatted neat tabular console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